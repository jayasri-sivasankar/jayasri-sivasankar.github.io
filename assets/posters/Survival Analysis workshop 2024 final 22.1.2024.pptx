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9601200" cy="12801600" type="A3"/>
  <p:notesSz cx="6797675" cy="9928225"/>
  <p:defaultTextStyle>
    <a:defPPr>
      <a:defRPr lang="en-US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FF"/>
    <a:srgbClr val="C3D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24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86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6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68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6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8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27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75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6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8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08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885AD-4A82-4636-8FFD-45637125180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B704A-2573-45A9-A1A9-B34A1C873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JPG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hyperlink" Target="https://forms.gle/eqA4ngQfADkzjMSA7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microsoft.com/office/2007/relationships/hdphoto" Target="../media/hdphoto1.wdp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rms.gle/aFSK5WMtTwVAm6p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557" b="14812"/>
          <a:stretch/>
        </p:blipFill>
        <p:spPr>
          <a:xfrm>
            <a:off x="0" y="1472237"/>
            <a:ext cx="9601200" cy="1105623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1105233"/>
            <a:ext cx="9601200" cy="3866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0" y="-44067"/>
            <a:ext cx="9601200" cy="133118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993362" y="2002013"/>
            <a:ext cx="7648094" cy="590048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3200" b="1" dirty="0">
                <a:solidFill>
                  <a:srgbClr val="003A60"/>
                </a:solidFill>
              </a:rPr>
              <a:t>SURVIVAL ANALYSIS: How and What!</a:t>
            </a:r>
            <a:endParaRPr lang="en-IN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2172263" y="2737468"/>
            <a:ext cx="5290292" cy="405383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News706BT-BoldC"/>
              </a:rPr>
              <a:t> 3</a:t>
            </a:r>
            <a:r>
              <a:rPr lang="en-IN" sz="2000" b="1" baseline="30000" dirty="0">
                <a:solidFill>
                  <a:srgbClr val="7030A0"/>
                </a:solidFill>
                <a:latin typeface="News706BT-BoldC"/>
              </a:rPr>
              <a:t>rd</a:t>
            </a:r>
            <a:r>
              <a:rPr lang="en-IN" sz="2000" b="1" dirty="0">
                <a:solidFill>
                  <a:srgbClr val="7030A0"/>
                </a:solidFill>
                <a:latin typeface="News706BT-BoldC"/>
              </a:rPr>
              <a:t> February, 2024 9.30 AM- 4.00 PM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0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961" y="3575197"/>
            <a:ext cx="4283117" cy="309826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23" y="3575197"/>
            <a:ext cx="4268365" cy="312336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946470" y="8074595"/>
            <a:ext cx="44413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Chivo-Bold"/>
              </a:rPr>
              <a:t>Mrs.</a:t>
            </a:r>
            <a:r>
              <a:rPr lang="en-IN" sz="24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Chivo-Bold"/>
              </a:rPr>
              <a:t> </a:t>
            </a:r>
            <a:r>
              <a:rPr lang="en-IN" sz="2400" b="1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Chivo-Bold"/>
              </a:rPr>
              <a:t>Sadhana</a:t>
            </a:r>
            <a:r>
              <a:rPr lang="en-IN" sz="24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Chivo-Bold"/>
              </a:rPr>
              <a:t> </a:t>
            </a:r>
            <a:r>
              <a:rPr lang="en-IN" sz="2400" b="1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Chivo-Bold"/>
              </a:rPr>
              <a:t>Kannan</a:t>
            </a:r>
            <a:endParaRPr lang="en-IN" sz="2400" b="1" i="0" u="none" strike="noStrike" baseline="0" dirty="0">
              <a:solidFill>
                <a:schemeClr val="accent1">
                  <a:lumMod val="50000"/>
                </a:schemeClr>
              </a:solidFill>
              <a:latin typeface="Chivo-Bold"/>
            </a:endParaRPr>
          </a:p>
          <a:p>
            <a:pPr algn="ctr"/>
            <a:r>
              <a:rPr lang="en-IN" sz="2400" dirty="0"/>
              <a:t>Program Director </a:t>
            </a:r>
          </a:p>
          <a:p>
            <a:pPr algn="ctr"/>
            <a:r>
              <a:rPr lang="en-IN" sz="2400" dirty="0"/>
              <a:t>Scientific Officer ‘F’ (Biostatistics)</a:t>
            </a:r>
          </a:p>
          <a:p>
            <a:pPr algn="ctr"/>
            <a:r>
              <a:rPr lang="en-IN" sz="2400" dirty="0"/>
              <a:t>ACTREC, Tata Memorial Centre</a:t>
            </a:r>
          </a:p>
          <a:p>
            <a:pPr algn="ctr"/>
            <a:r>
              <a:rPr lang="en-IN" sz="2400" dirty="0"/>
              <a:t>Mumbai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393" y="8057011"/>
            <a:ext cx="43456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Chivo-Bold"/>
              </a:rPr>
              <a:t>Prof.</a:t>
            </a:r>
            <a:r>
              <a:rPr lang="en-IN" sz="24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Chivo-Bold"/>
              </a:rPr>
              <a:t> Sudeep Gupta</a:t>
            </a:r>
          </a:p>
          <a:p>
            <a:pPr algn="ctr"/>
            <a:r>
              <a:rPr lang="en-IN" sz="2400" dirty="0"/>
              <a:t>Patron </a:t>
            </a:r>
          </a:p>
          <a:p>
            <a:pPr algn="ctr"/>
            <a:r>
              <a:rPr lang="en-IN" sz="2400" dirty="0"/>
              <a:t>Director </a:t>
            </a:r>
          </a:p>
          <a:p>
            <a:pPr algn="ctr"/>
            <a:r>
              <a:rPr lang="en-IN" sz="2400" dirty="0"/>
              <a:t>Tata Memorial Centre</a:t>
            </a:r>
          </a:p>
          <a:p>
            <a:pPr algn="ctr"/>
            <a:r>
              <a:rPr lang="en-IN" sz="2400" dirty="0"/>
              <a:t>Mumbai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1765" y="10119158"/>
            <a:ext cx="377825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4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Chivo-Bold"/>
              </a:rPr>
              <a:t>Core Committee</a:t>
            </a:r>
          </a:p>
          <a:p>
            <a:pPr algn="ctr"/>
            <a:r>
              <a:rPr lang="en-IN" sz="2400" i="0" u="none" strike="noStrike" baseline="0" dirty="0" err="1"/>
              <a:t>Prof.</a:t>
            </a:r>
            <a:r>
              <a:rPr lang="en-IN" sz="2400" i="0" u="none" strike="noStrike" baseline="0" dirty="0"/>
              <a:t> </a:t>
            </a:r>
            <a:r>
              <a:rPr lang="en-IN" sz="2400" i="0" u="none" strike="noStrike" baseline="0" dirty="0" err="1"/>
              <a:t>Sudeep</a:t>
            </a:r>
            <a:r>
              <a:rPr lang="en-IN" sz="2400" i="0" u="none" strike="noStrike" baseline="0" dirty="0"/>
              <a:t> Gupta</a:t>
            </a:r>
          </a:p>
          <a:p>
            <a:pPr algn="ctr"/>
            <a:r>
              <a:rPr lang="en-IN" sz="2400" i="0" u="none" strike="noStrike" baseline="0" dirty="0"/>
              <a:t>Mrs. Sadhana Kannan</a:t>
            </a:r>
          </a:p>
          <a:p>
            <a:pPr algn="ctr"/>
            <a:r>
              <a:rPr lang="en-IN" sz="2400" dirty="0" err="1"/>
              <a:t>Dr.</a:t>
            </a:r>
            <a:r>
              <a:rPr lang="en-IN" sz="2400" dirty="0"/>
              <a:t> Priya Tiwari</a:t>
            </a:r>
          </a:p>
          <a:p>
            <a:pPr algn="ctr"/>
            <a:endParaRPr lang="en-IN" sz="2400" i="0" u="none" strike="noStrike" baseline="0" dirty="0"/>
          </a:p>
          <a:p>
            <a:pPr algn="ctr"/>
            <a:endParaRPr lang="en-IN" sz="1400" dirty="0"/>
          </a:p>
        </p:txBody>
      </p:sp>
      <p:sp>
        <p:nvSpPr>
          <p:cNvPr id="13" name="Rectangle 12"/>
          <p:cNvSpPr/>
          <p:nvPr/>
        </p:nvSpPr>
        <p:spPr>
          <a:xfrm>
            <a:off x="1316736" y="11587623"/>
            <a:ext cx="708224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53C5B"/>
                </a:solidFill>
                <a:latin typeface="Gotham-Medium"/>
              </a:rPr>
              <a:t>Click the link below to register</a:t>
            </a:r>
          </a:p>
          <a:p>
            <a:pPr algn="ctr"/>
            <a:endParaRPr lang="en-IN" sz="14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5" y="123127"/>
            <a:ext cx="930445" cy="982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10"/>
          <a:stretch/>
        </p:blipFill>
        <p:spPr>
          <a:xfrm>
            <a:off x="8615462" y="172714"/>
            <a:ext cx="844357" cy="88293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6896" y="79958"/>
            <a:ext cx="73210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+mj-lt"/>
              </a:rPr>
              <a:t>TATA MEMORIAL CENTRE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ADVANCED CENTRE FOR TREATMENT, RESEARCH &amp; EDUCATION IN CANCER (ACTREC)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2410691"/>
            <a:ext cx="9601200" cy="3866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0" y="12510542"/>
            <a:ext cx="9601200" cy="26699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2220885" y="1541502"/>
            <a:ext cx="5290292" cy="405383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News706BT-BoldC"/>
              </a:rPr>
              <a:t>WORKSHOP ON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47239-238D-4595-8F3E-EF72C4DBB05A}"/>
              </a:ext>
            </a:extLst>
          </p:cNvPr>
          <p:cNvSpPr/>
          <p:nvPr/>
        </p:nvSpPr>
        <p:spPr>
          <a:xfrm>
            <a:off x="2628900" y="11951374"/>
            <a:ext cx="685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0000FF"/>
                </a:solidFill>
                <a:ea typeface="Calibri" panose="020F0502020204030204" pitchFamily="34" charset="0"/>
                <a:hlinkClick r:id="rId9"/>
              </a:rPr>
              <a:t>https://forms.gle/eqA4ngQfADkzjMSA7</a:t>
            </a:r>
            <a:endParaRPr lang="en-IN" sz="2400" dirty="0">
              <a:effectLst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9EB52-3ED6-45DD-AD0A-08109C41B8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6167" y="7011547"/>
            <a:ext cx="920203" cy="1031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62082D-34C6-41B6-AC90-689A926BC7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277" y="7000208"/>
            <a:ext cx="920203" cy="10395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79437B-1EED-3638-5ACC-8552E86086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" y="1478460"/>
            <a:ext cx="1144153" cy="13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2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557" b="14812"/>
          <a:stretch/>
        </p:blipFill>
        <p:spPr>
          <a:xfrm>
            <a:off x="0" y="-114300"/>
            <a:ext cx="9601200" cy="1251054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33870" y="1146384"/>
            <a:ext cx="6614620" cy="528493"/>
          </a:xfrm>
          <a:prstGeom prst="rect">
            <a:avLst/>
          </a:prstGeom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Welcome Note</a:t>
            </a:r>
            <a:endParaRPr lang="en-IN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7361" y="1834755"/>
            <a:ext cx="9080968" cy="5637584"/>
          </a:xfrm>
          <a:prstGeom prst="rect">
            <a:avLst/>
          </a:prstGeom>
        </p:spPr>
        <p:txBody>
          <a:bodyPr wrap="square" lIns="96661" tIns="48331" rIns="96661" bIns="48331">
            <a:spAutoFit/>
          </a:bodyPr>
          <a:lstStyle/>
          <a:p>
            <a:pPr algn="just"/>
            <a:r>
              <a:rPr lang="en-US" sz="2400" dirty="0"/>
              <a:t>On behalf of Indian Society for Medical and </a:t>
            </a:r>
            <a:r>
              <a:rPr lang="en-US" sz="2400" dirty="0" err="1"/>
              <a:t>Paediatric</a:t>
            </a:r>
            <a:r>
              <a:rPr lang="en-US" sz="2400" dirty="0"/>
              <a:t> Oncology (ISMPO), we welcome the delegates to </a:t>
            </a:r>
            <a:r>
              <a:rPr lang="en-US" sz="2400" b="1" dirty="0"/>
              <a:t>ISMPOCON 2024 </a:t>
            </a:r>
            <a:r>
              <a:rPr lang="en-US" sz="2400" dirty="0"/>
              <a:t>for a workshop on ‘SURVIVAL ANALYSIS: How and What!’.</a:t>
            </a:r>
          </a:p>
          <a:p>
            <a:pPr algn="just"/>
            <a:r>
              <a:rPr lang="en-US" sz="2400" dirty="0"/>
              <a:t>The one-day workshop will delve into the basics of survival analysis, methods used for analyzing failure time data and Restricted Mean Survival Time (RMST). RMST though a less well-known survival metric, is an alternative measure for hazards ratio, medians and landmark survival as a summary measure of treatment effect that may not be tenable in absence of proportional hazards. </a:t>
            </a:r>
            <a:r>
              <a:rPr lang="en-IN" sz="2400" dirty="0"/>
              <a:t>Non-proportional hazards are frequently observed in cancer immunotherapy trials due to the long-term survival and delayed clinical benefits. </a:t>
            </a:r>
            <a:r>
              <a:rPr lang="en-US" sz="2400" dirty="0"/>
              <a:t>The workshop is a blend of concepts, mathematical background, implementation and interpretation. Critical appraisal of land-mark clinical trials in the field of oncology with respect to survival analysis are the key focus of the workshop.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57876"/>
            <a:ext cx="96012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solidFill>
                  <a:srgbClr val="7030A0"/>
                </a:solidFill>
              </a:rPr>
              <a:t>Faculty</a:t>
            </a:r>
          </a:p>
          <a:p>
            <a:r>
              <a:rPr lang="en-IN" sz="2000" b="1" i="0" u="none" strike="noStrike" baseline="0" dirty="0">
                <a:solidFill>
                  <a:srgbClr val="103B60"/>
                </a:solidFill>
                <a:latin typeface="Chivo-Bold"/>
              </a:rPr>
              <a:t>                       </a:t>
            </a:r>
            <a:r>
              <a:rPr lang="en-IN" sz="2000" b="1" i="0" u="none" strike="noStrike" baseline="0" dirty="0">
                <a:solidFill>
                  <a:srgbClr val="000099"/>
                </a:solidFill>
                <a:latin typeface="Chivo-Bold"/>
              </a:rPr>
              <a:t>Mrs. Sadhana Kannan</a:t>
            </a:r>
            <a:r>
              <a:rPr lang="en-IN" sz="2000" b="1" i="0" u="none" strike="noStrike" baseline="0" dirty="0">
                <a:solidFill>
                  <a:srgbClr val="103B60"/>
                </a:solidFill>
                <a:latin typeface="Chivo-Bold"/>
              </a:rPr>
              <a:t>			</a:t>
            </a:r>
            <a:r>
              <a:rPr lang="en-IN" sz="2000" b="1" i="0" u="none" strike="noStrike" baseline="0" dirty="0" err="1">
                <a:solidFill>
                  <a:srgbClr val="000099"/>
                </a:solidFill>
                <a:latin typeface="Chivo-Bold"/>
              </a:rPr>
              <a:t>Dr.</a:t>
            </a:r>
            <a:r>
              <a:rPr lang="en-IN" sz="2000" b="1" i="0" u="none" strike="noStrike" baseline="0" dirty="0">
                <a:solidFill>
                  <a:srgbClr val="000099"/>
                </a:solidFill>
                <a:latin typeface="Chivo-Bold"/>
              </a:rPr>
              <a:t> Anant Ramaswamy</a:t>
            </a:r>
          </a:p>
          <a:p>
            <a:r>
              <a:rPr lang="en-IN" sz="2000" dirty="0"/>
              <a:t>                       Scientific Officer ‘F’ (Biostatistics)		Professor, Medical Oncology</a:t>
            </a:r>
          </a:p>
          <a:p>
            <a:r>
              <a:rPr lang="en-IN" sz="2000" dirty="0"/>
              <a:t>                       ACTREC, Tata Memorial Centre,		Tata Memorial Centre</a:t>
            </a:r>
          </a:p>
          <a:p>
            <a:r>
              <a:rPr lang="en-IN" sz="2000" dirty="0"/>
              <a:t>                       Mumbai      				Mumbai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0099"/>
                </a:solidFill>
              </a:rPr>
              <a:t>                       D</a:t>
            </a:r>
            <a:r>
              <a:rPr lang="en-IN" sz="2000" b="1" dirty="0">
                <a:solidFill>
                  <a:srgbClr val="000099"/>
                </a:solidFill>
              </a:rPr>
              <a:t>r. </a:t>
            </a:r>
            <a:r>
              <a:rPr lang="en-IN" sz="2000" b="1" dirty="0" err="1">
                <a:solidFill>
                  <a:srgbClr val="000099"/>
                </a:solidFill>
              </a:rPr>
              <a:t>Revathy</a:t>
            </a:r>
            <a:r>
              <a:rPr lang="en-IN" sz="2000" b="1" dirty="0">
                <a:solidFill>
                  <a:srgbClr val="000099"/>
                </a:solidFill>
              </a:rPr>
              <a:t> Ananthakrishnan	                       </a:t>
            </a:r>
            <a:r>
              <a:rPr lang="en-IN" sz="2000" b="1" dirty="0" err="1">
                <a:solidFill>
                  <a:srgbClr val="000099"/>
                </a:solidFill>
              </a:rPr>
              <a:t>Dr.</a:t>
            </a:r>
            <a:r>
              <a:rPr lang="en-IN" sz="2000" b="1" dirty="0">
                <a:solidFill>
                  <a:srgbClr val="000099"/>
                </a:solidFill>
              </a:rPr>
              <a:t> </a:t>
            </a:r>
            <a:r>
              <a:rPr lang="en-IN" sz="2000" b="1" dirty="0" err="1">
                <a:solidFill>
                  <a:srgbClr val="000099"/>
                </a:solidFill>
              </a:rPr>
              <a:t>Binu</a:t>
            </a:r>
            <a:r>
              <a:rPr lang="en-IN" sz="2000" b="1" dirty="0">
                <a:solidFill>
                  <a:srgbClr val="000099"/>
                </a:solidFill>
              </a:rPr>
              <a:t> S.V</a:t>
            </a:r>
          </a:p>
          <a:p>
            <a:r>
              <a:rPr lang="en-US" sz="2000" dirty="0"/>
              <a:t>                        Director, Biostatistics	                                             Professor, Biostatistics</a:t>
            </a:r>
          </a:p>
          <a:p>
            <a:r>
              <a:rPr lang="en-IN" sz="2000" dirty="0">
                <a:solidFill>
                  <a:schemeClr val="dk1"/>
                </a:solidFill>
              </a:rPr>
              <a:t>                        Bristol Myers Squibb, NJ, USA</a:t>
            </a:r>
            <a:r>
              <a:rPr lang="en-IN" sz="2000" dirty="0"/>
              <a:t>                                   NIMHANS, Bangalore    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0099"/>
                </a:solidFill>
              </a:rPr>
              <a:t>	Neha Singh</a:t>
            </a:r>
          </a:p>
          <a:p>
            <a:r>
              <a:rPr lang="en-US" sz="2000" dirty="0"/>
              <a:t>	Sr. Principal Biostatistician</a:t>
            </a:r>
            <a:endParaRPr lang="en-IN" sz="2000" dirty="0"/>
          </a:p>
          <a:p>
            <a:r>
              <a:rPr lang="en-IN" sz="2000" dirty="0"/>
              <a:t>	Paraxel International                                                       </a:t>
            </a:r>
            <a:endParaRPr lang="en-IN" sz="2000" dirty="0">
              <a:solidFill>
                <a:srgbClr val="000000"/>
              </a:solidFill>
            </a:endParaRPr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  <a:p>
            <a:endParaRPr lang="en-US" sz="2000" dirty="0"/>
          </a:p>
          <a:p>
            <a:endParaRPr lang="en-IN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142172" y="12414917"/>
            <a:ext cx="9328441" cy="386683"/>
            <a:chOff x="199322" y="12414917"/>
            <a:chExt cx="9328441" cy="386683"/>
          </a:xfrm>
        </p:grpSpPr>
        <p:sp>
          <p:nvSpPr>
            <p:cNvPr id="7" name="Rectangle 6"/>
            <p:cNvSpPr/>
            <p:nvPr/>
          </p:nvSpPr>
          <p:spPr>
            <a:xfrm>
              <a:off x="199322" y="12414917"/>
              <a:ext cx="9328441" cy="38668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9322" y="12514768"/>
              <a:ext cx="9328441" cy="26699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/>
          <p:cNvSpPr/>
          <p:nvPr/>
        </p:nvSpPr>
        <p:spPr>
          <a:xfrm>
            <a:off x="917133" y="45225"/>
            <a:ext cx="7648094" cy="651604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3600" b="1" dirty="0">
                <a:solidFill>
                  <a:srgbClr val="003A60"/>
                </a:solidFill>
              </a:rPr>
              <a:t>SURVIVAL ANALYSIS: How and What!</a:t>
            </a:r>
            <a:endParaRPr lang="en-IN" sz="3600" b="1" dirty="0"/>
          </a:p>
        </p:txBody>
      </p:sp>
      <p:sp>
        <p:nvSpPr>
          <p:cNvPr id="10" name="Rectangle 9"/>
          <p:cNvSpPr/>
          <p:nvPr/>
        </p:nvSpPr>
        <p:spPr>
          <a:xfrm>
            <a:off x="2096034" y="684225"/>
            <a:ext cx="5290292" cy="466938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2400" b="1" dirty="0">
                <a:solidFill>
                  <a:srgbClr val="7030A0"/>
                </a:solidFill>
                <a:latin typeface="News706BT-BoldC"/>
              </a:rPr>
              <a:t>3</a:t>
            </a:r>
            <a:r>
              <a:rPr lang="en-IN" sz="2400" b="1" baseline="30000" dirty="0">
                <a:solidFill>
                  <a:srgbClr val="7030A0"/>
                </a:solidFill>
                <a:latin typeface="News706BT-BoldC"/>
              </a:rPr>
              <a:t>rd</a:t>
            </a:r>
            <a:r>
              <a:rPr lang="en-IN" sz="2400" b="1" dirty="0">
                <a:solidFill>
                  <a:srgbClr val="7030A0"/>
                </a:solidFill>
                <a:latin typeface="News706BT-BoldC"/>
              </a:rPr>
              <a:t> February 2024 9.30 AM- 4.00 PM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12" name="Picture 2" descr="Binu V S | Professor (Associate) | M.Sc (Statistics) &amp; PhD | National  Institute of Mental Health and Neuro Sciences, Bengaluru | NIMHANS |  Department of Biostatistics | Research profile">
            <a:extLst>
              <a:ext uri="{FF2B5EF4-FFF2-40B4-BE49-F238E27FC236}">
                <a16:creationId xmlns:a16="http://schemas.microsoft.com/office/drawing/2014/main" id="{3755DA49-F7C9-4FEC-B7E3-EB9E503B0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90" y="9711889"/>
            <a:ext cx="826477" cy="84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CCB4B-06C5-4A8D-B6E4-017555C235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86" y="10981405"/>
            <a:ext cx="826477" cy="8080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D93954-176D-427B-9028-13008570F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989" y="8312614"/>
            <a:ext cx="826477" cy="8445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621F45-B164-4AF0-B3BA-8BCB4FBBA94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2" y="9695616"/>
            <a:ext cx="828414" cy="8080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34169F-BD27-464F-8C0F-BD5733DB20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7" y="8248716"/>
            <a:ext cx="826478" cy="9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8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557" b="14812"/>
          <a:stretch/>
        </p:blipFill>
        <p:spPr>
          <a:xfrm>
            <a:off x="0" y="-156208"/>
            <a:ext cx="9601200" cy="1251054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138193"/>
              </p:ext>
            </p:extLst>
          </p:nvPr>
        </p:nvGraphicFramePr>
        <p:xfrm>
          <a:off x="1033112" y="1487328"/>
          <a:ext cx="7263607" cy="503185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756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7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3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Time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Topic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9.30 am-9.45 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Opening Remarks</a:t>
                      </a:r>
                      <a:r>
                        <a:rPr lang="en-US" sz="1600" u="none" strike="noStrike" dirty="0">
                          <a:effectLst/>
                        </a:rPr>
                        <a:t>                                                                                                           Dr.. Sudeep Gupta , Director, Tata Memorial Centre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9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9.45 am-10.30 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Introduction to Survival Analysis </a:t>
                      </a:r>
                    </a:p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Sadhana Kannan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10.30 am - 11.15 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Cox Proportional Hazards (PH) model </a:t>
                      </a:r>
                    </a:p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Dr. </a:t>
                      </a:r>
                      <a:r>
                        <a:rPr lang="en-US" sz="1600" u="none" strike="noStrike" dirty="0" err="1">
                          <a:effectLst/>
                        </a:rPr>
                        <a:t>Binu</a:t>
                      </a:r>
                      <a:r>
                        <a:rPr lang="en-US" sz="1600" u="none" strike="noStrike" dirty="0">
                          <a:effectLst/>
                        </a:rPr>
                        <a:t>, V.S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11.15 am to 11.30 am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6012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 Break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967">
                <a:tc>
                  <a:txBody>
                    <a:bodyPr/>
                    <a:lstStyle/>
                    <a:p>
                      <a:pPr marL="0" marR="0" lvl="0" indent="0" algn="ctr" defTabSz="9601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</a:rPr>
                        <a:t>11.30 am - 12.15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Restricted Mean Survival Time</a:t>
                      </a:r>
                    </a:p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Neha Singh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4738462"/>
                  </a:ext>
                </a:extLst>
              </a:tr>
              <a:tr h="5406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12.15 pm – 12.45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Design of Immuno-Oncology trials under Non-PH   </a:t>
                      </a:r>
                    </a:p>
                    <a:p>
                      <a:pPr algn="ctr" fontAlgn="b"/>
                      <a:r>
                        <a:rPr lang="en-IN" sz="1600" u="none" strike="noStrike" dirty="0" err="1">
                          <a:effectLst/>
                        </a:rPr>
                        <a:t>Dr.</a:t>
                      </a:r>
                      <a:r>
                        <a:rPr lang="en-IN" sz="1600" u="none" strike="noStrike" dirty="0">
                          <a:effectLst/>
                        </a:rPr>
                        <a:t> </a:t>
                      </a:r>
                      <a:r>
                        <a:rPr lang="en-IN" sz="1600" u="none" strike="noStrike" dirty="0" err="1">
                          <a:effectLst/>
                        </a:rPr>
                        <a:t>Revathi</a:t>
                      </a:r>
                      <a:r>
                        <a:rPr lang="en-IN" sz="1600" u="none" strike="noStrike" dirty="0">
                          <a:effectLst/>
                        </a:rPr>
                        <a:t> </a:t>
                      </a:r>
                      <a:r>
                        <a:rPr lang="en-IN" sz="1600" u="none" strike="noStrike" dirty="0" err="1">
                          <a:effectLst/>
                        </a:rPr>
                        <a:t>Ananthakrishnan</a:t>
                      </a:r>
                      <a:r>
                        <a:rPr lang="en-IN" sz="1600" u="none" strike="noStrike" dirty="0">
                          <a:effectLst/>
                        </a:rPr>
                        <a:t> (Recorded</a:t>
                      </a:r>
                      <a:r>
                        <a:rPr lang="en-IN" sz="1600" u="none" strike="noStrike" baseline="0" dirty="0">
                          <a:effectLst/>
                        </a:rPr>
                        <a:t> session)</a:t>
                      </a:r>
                      <a:endParaRPr lang="en-IN" sz="1600" u="none" strike="noStrike" dirty="0"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6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12.45 pm – 1.30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6012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Lunch Break</a:t>
                      </a:r>
                      <a:endParaRPr lang="en-IN" sz="1600" b="1" u="none" strike="noStrike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8652404"/>
                  </a:ext>
                </a:extLst>
              </a:tr>
              <a:tr h="1169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1.30 pm - 3.30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Panel Discussion of landmark clinical trials</a:t>
                      </a:r>
                    </a:p>
                    <a:p>
                      <a:pPr algn="just" fontAlgn="b"/>
                      <a:r>
                        <a:rPr lang="en-IN" sz="1600" u="none" strike="noStrike" dirty="0">
                          <a:effectLst/>
                        </a:rPr>
                        <a:t>Keynote- 177 (Colorectal Cancer)  </a:t>
                      </a:r>
                    </a:p>
                    <a:p>
                      <a:pPr algn="just" fontAlgn="b"/>
                      <a:r>
                        <a:rPr lang="en-US" sz="1600" u="none" strike="noStrike" dirty="0">
                          <a:effectLst/>
                        </a:rPr>
                        <a:t>K</a:t>
                      </a:r>
                      <a:r>
                        <a:rPr lang="en-IN" sz="1600" u="none" strike="noStrike" dirty="0" err="1">
                          <a:effectLst/>
                        </a:rPr>
                        <a:t>eynote</a:t>
                      </a:r>
                      <a:r>
                        <a:rPr lang="en-IN" sz="1600" u="none" strike="noStrike" dirty="0">
                          <a:effectLst/>
                        </a:rPr>
                        <a:t>- 394 (HCC)</a:t>
                      </a:r>
                    </a:p>
                    <a:p>
                      <a:pPr algn="ctr" fontAlgn="b"/>
                      <a:r>
                        <a:rPr lang="en-IN" sz="1600" b="1" u="none" strike="noStrike" dirty="0">
                          <a:effectLst/>
                        </a:rPr>
                        <a:t>Moderators</a:t>
                      </a:r>
                      <a:r>
                        <a:rPr lang="en-IN" sz="1600" u="none" strike="noStrike" dirty="0">
                          <a:effectLst/>
                        </a:rPr>
                        <a:t> : Mrs. Sadhana Kannan, Neha Singh</a:t>
                      </a:r>
                      <a:endParaRPr lang="en-IN" sz="1600" u="none" strike="noStrike" baseline="0" dirty="0">
                        <a:effectLst/>
                      </a:endParaRPr>
                    </a:p>
                    <a:p>
                      <a:pPr algn="ctr" fontAlgn="b"/>
                      <a:r>
                        <a:rPr lang="en-IN" sz="1600" u="none" strike="noStrike" baseline="0" dirty="0" err="1">
                          <a:effectLst/>
                        </a:rPr>
                        <a:t>Dr.</a:t>
                      </a:r>
                      <a:r>
                        <a:rPr lang="en-IN" sz="1600" u="none" strike="noStrike" baseline="0" dirty="0">
                          <a:effectLst/>
                        </a:rPr>
                        <a:t> </a:t>
                      </a:r>
                      <a:r>
                        <a:rPr lang="en-IN" sz="1600" u="none" strike="noStrike" baseline="0" dirty="0" err="1">
                          <a:effectLst/>
                        </a:rPr>
                        <a:t>Anant</a:t>
                      </a:r>
                      <a:r>
                        <a:rPr lang="en-IN" sz="1600" u="none" strike="noStrike" baseline="0" dirty="0">
                          <a:effectLst/>
                        </a:rPr>
                        <a:t> </a:t>
                      </a:r>
                      <a:r>
                        <a:rPr lang="en-IN" sz="1600" u="none" strike="noStrike" baseline="0" dirty="0" err="1">
                          <a:effectLst/>
                        </a:rPr>
                        <a:t>Ramaswamy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8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3.30 pm -4.00 pm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60120" rtl="0" eaLnBrk="1" fontAlgn="b" latinLnBrk="0" hangingPunct="1"/>
                      <a:r>
                        <a:rPr lang="en-US" sz="1600" b="1" u="none" strike="noStrike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 Break &amp; Networking</a:t>
                      </a:r>
                      <a:endParaRPr lang="en-IN" sz="1600" b="1" u="none" strike="noStrike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475549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33106" y="1119513"/>
            <a:ext cx="24481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i="0" u="none" strike="noStrike" baseline="0" dirty="0">
                <a:solidFill>
                  <a:schemeClr val="accent6">
                    <a:lumMod val="50000"/>
                  </a:schemeClr>
                </a:solidFill>
                <a:latin typeface="Chivo-Medium"/>
              </a:rPr>
              <a:t>Scientific Program</a:t>
            </a:r>
            <a:endParaRPr lang="en-IN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0" y="6528966"/>
            <a:ext cx="960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7030A0"/>
                </a:solidFill>
              </a:rPr>
              <a:t>Venue</a:t>
            </a:r>
          </a:p>
          <a:p>
            <a:pPr algn="ctr"/>
            <a:r>
              <a:rPr lang="en-US" sz="2200" dirty="0"/>
              <a:t>Mini Auditorium, Paymaster </a:t>
            </a:r>
            <a:r>
              <a:rPr lang="en-US" sz="2200" dirty="0" err="1"/>
              <a:t>Shodhika</a:t>
            </a:r>
            <a:r>
              <a:rPr lang="en-US" sz="2200" dirty="0"/>
              <a:t>, ACTREC Kharghar,  Navi Mumbai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564" y="7152676"/>
            <a:ext cx="9151190" cy="2771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can apply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Delegates who are ISMPO members are eligible to attend the </a:t>
            </a:r>
            <a:r>
              <a:rPr lang="en-US" sz="2000" dirty="0"/>
              <a:t>post lunch session that is the key focus of the workshop ‘</a:t>
            </a:r>
            <a:r>
              <a:rPr lang="en-US" sz="2000" b="1" dirty="0"/>
              <a:t>Critical appraisal of land-mark clinical trials in the field of oncology with respect to survival analysis</a:t>
            </a:r>
            <a:r>
              <a:rPr lang="en-US" sz="2000" dirty="0"/>
              <a:t>’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Morning session will be on hybrid mode and will be open to all. </a:t>
            </a:r>
            <a:r>
              <a:rPr lang="en-US" sz="2000" b="1" dirty="0"/>
              <a:t>Registration is mandatory.</a:t>
            </a:r>
            <a:r>
              <a:rPr lang="en-US" sz="2000" dirty="0"/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1564" y="9478588"/>
            <a:ext cx="9151190" cy="1995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</a:t>
            </a:r>
            <a:endParaRPr lang="en-US" sz="2400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is free of cost but compulsory. To register for the course, please click on the link: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https://forms.gle/aFSK5WMtTwVAm6p58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Kindly note that the number of seats is limited to 30 for the post lunch session. Decision of the Conference secretariat will be final.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410691"/>
            <a:ext cx="9601200" cy="3866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0" y="12510542"/>
            <a:ext cx="9601200" cy="26699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33112" y="234959"/>
            <a:ext cx="7648094" cy="651604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3600" b="1" dirty="0">
                <a:solidFill>
                  <a:srgbClr val="003A60"/>
                </a:solidFill>
              </a:rPr>
              <a:t>SURVIVAL ANALYSIS: How and What!</a:t>
            </a:r>
            <a:endParaRPr lang="en-IN" sz="3600" b="1" dirty="0"/>
          </a:p>
        </p:txBody>
      </p:sp>
      <p:sp>
        <p:nvSpPr>
          <p:cNvPr id="15" name="Rectangle 14"/>
          <p:cNvSpPr/>
          <p:nvPr/>
        </p:nvSpPr>
        <p:spPr>
          <a:xfrm>
            <a:off x="2212013" y="775623"/>
            <a:ext cx="5290292" cy="466938"/>
          </a:xfrm>
          <a:prstGeom prst="rect">
            <a:avLst/>
          </a:prstGeom>
          <a:noFill/>
        </p:spPr>
        <p:txBody>
          <a:bodyPr wrap="square" lIns="96661" tIns="48331" rIns="96661" bIns="48331">
            <a:spAutoFit/>
          </a:bodyPr>
          <a:lstStyle/>
          <a:p>
            <a:pPr algn="ctr"/>
            <a:r>
              <a:rPr lang="en-IN" sz="2400" b="1" dirty="0">
                <a:solidFill>
                  <a:srgbClr val="7030A0"/>
                </a:solidFill>
                <a:latin typeface="News706BT-BoldC"/>
              </a:rPr>
              <a:t>3</a:t>
            </a:r>
            <a:r>
              <a:rPr lang="en-IN" sz="2400" b="1" baseline="30000" dirty="0">
                <a:solidFill>
                  <a:srgbClr val="7030A0"/>
                </a:solidFill>
                <a:latin typeface="News706BT-BoldC"/>
              </a:rPr>
              <a:t>rd</a:t>
            </a:r>
            <a:r>
              <a:rPr lang="en-IN" sz="2400" b="1" dirty="0">
                <a:solidFill>
                  <a:srgbClr val="7030A0"/>
                </a:solidFill>
                <a:latin typeface="News706BT-BoldC"/>
              </a:rPr>
              <a:t> February 2024 9.30 AM- 4.00 PM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1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3027</TotalTime>
  <Words>632</Words>
  <Application>Microsoft Office PowerPoint</Application>
  <PresentationFormat>A3 Paper (297x420 mm)</PresentationFormat>
  <Paragraphs>81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Light</vt:lpstr>
      <vt:lpstr>Chivo-Bold</vt:lpstr>
      <vt:lpstr>Chivo-Medium</vt:lpstr>
      <vt:lpstr>Gotham-Medium</vt:lpstr>
      <vt:lpstr>News706BT-BoldC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Sadhana Kannan</cp:lastModifiedBy>
  <cp:revision>71</cp:revision>
  <cp:lastPrinted>2024-01-05T06:53:05Z</cp:lastPrinted>
  <dcterms:created xsi:type="dcterms:W3CDTF">2022-07-29T04:03:53Z</dcterms:created>
  <dcterms:modified xsi:type="dcterms:W3CDTF">2024-01-22T04:02:40Z</dcterms:modified>
</cp:coreProperties>
</file>